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attanakarn Heavy" charset="1" panose="00000000000000000000"/>
      <p:regular r:id="rId20"/>
    </p:embeddedFont>
    <p:embeddedFont>
      <p:font typeface="Pattanakarn Bold" charset="1" panose="00000000000000000000"/>
      <p:regular r:id="rId21"/>
    </p:embeddedFont>
    <p:embeddedFont>
      <p:font typeface="Open Sans" charset="1" panose="00000000000000000000"/>
      <p:regular r:id="rId22"/>
    </p:embeddedFont>
    <p:embeddedFont>
      <p:font typeface="Pattanakarn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https://judge.beecrowd.com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46863" y="162037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5"/>
                </a:lnTo>
                <a:lnTo>
                  <a:pt x="0" y="739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4379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7942" y="8675370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4379" y="959056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7"/>
                </a:lnTo>
                <a:lnTo>
                  <a:pt x="0" y="487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87942" y="959056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7"/>
                </a:lnTo>
                <a:lnTo>
                  <a:pt x="0" y="487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43430" y="1978802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9" y="0"/>
                </a:lnTo>
                <a:lnTo>
                  <a:pt x="471359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43430" y="818806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9" y="0"/>
                </a:lnTo>
                <a:lnTo>
                  <a:pt x="471359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83276" y="818806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3276" y="1978802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923311" y="1874887"/>
            <a:ext cx="2441378" cy="1833227"/>
          </a:xfrm>
          <a:custGeom>
            <a:avLst/>
            <a:gdLst/>
            <a:ahLst/>
            <a:cxnLst/>
            <a:rect r="r" b="b" t="t" l="l"/>
            <a:pathLst>
              <a:path h="1833227" w="2441378">
                <a:moveTo>
                  <a:pt x="0" y="0"/>
                </a:moveTo>
                <a:lnTo>
                  <a:pt x="2441378" y="0"/>
                </a:lnTo>
                <a:lnTo>
                  <a:pt x="2441378" y="1833228"/>
                </a:lnTo>
                <a:lnTo>
                  <a:pt x="0" y="18332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3114" t="-26486" r="-39008" b="-6835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114789" y="4713216"/>
            <a:ext cx="12058423" cy="1694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6"/>
              </a:lnSpc>
              <a:spcBef>
                <a:spcPct val="0"/>
              </a:spcBef>
            </a:pPr>
            <a:r>
              <a:rPr lang="en-US" b="true" sz="9975">
                <a:solidFill>
                  <a:srgbClr val="FFFFFF"/>
                </a:solidFill>
                <a:latin typeface="Pattanakarn Heavy"/>
                <a:ea typeface="Pattanakarn Heavy"/>
                <a:cs typeface="Pattanakarn Heavy"/>
                <a:sym typeface="Pattanakarn Heavy"/>
              </a:rPr>
              <a:t>NA PRÁTICA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43414" y="3774790"/>
            <a:ext cx="7001172" cy="944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8"/>
              </a:lnSpc>
              <a:spcBef>
                <a:spcPct val="0"/>
              </a:spcBef>
            </a:pPr>
            <a:r>
              <a:rPr lang="en-US" b="true" sz="5577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BEECROWD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08269" y="8809989"/>
            <a:ext cx="7071463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Como</a:t>
            </a: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resolver problemas e enviar seu código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3797842" y="-4459919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752453" y="1676866"/>
            <a:ext cx="10192655" cy="7859561"/>
            <a:chOff x="0" y="0"/>
            <a:chExt cx="1353767" cy="104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3767" cy="1043890"/>
            </a:xfrm>
            <a:custGeom>
              <a:avLst/>
              <a:gdLst/>
              <a:ahLst/>
              <a:cxnLst/>
              <a:rect r="r" b="b" t="t" l="l"/>
              <a:pathLst>
                <a:path h="1043890" w="1353767">
                  <a:moveTo>
                    <a:pt x="22787" y="0"/>
                  </a:moveTo>
                  <a:lnTo>
                    <a:pt x="1330980" y="0"/>
                  </a:lnTo>
                  <a:cubicBezTo>
                    <a:pt x="1337024" y="0"/>
                    <a:pt x="1342819" y="2401"/>
                    <a:pt x="1347093" y="6674"/>
                  </a:cubicBezTo>
                  <a:cubicBezTo>
                    <a:pt x="1351366" y="10947"/>
                    <a:pt x="1353767" y="16743"/>
                    <a:pt x="1353767" y="22787"/>
                  </a:cubicBezTo>
                  <a:lnTo>
                    <a:pt x="1353767" y="1021103"/>
                  </a:lnTo>
                  <a:cubicBezTo>
                    <a:pt x="1353767" y="1033688"/>
                    <a:pt x="1343565" y="1043890"/>
                    <a:pt x="1330980" y="1043890"/>
                  </a:cubicBezTo>
                  <a:lnTo>
                    <a:pt x="22787" y="1043890"/>
                  </a:lnTo>
                  <a:cubicBezTo>
                    <a:pt x="10202" y="1043890"/>
                    <a:pt x="0" y="1033688"/>
                    <a:pt x="0" y="1021103"/>
                  </a:cubicBezTo>
                  <a:lnTo>
                    <a:pt x="0" y="22787"/>
                  </a:lnTo>
                  <a:cubicBezTo>
                    <a:pt x="0" y="10202"/>
                    <a:pt x="10202" y="0"/>
                    <a:pt x="2278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432" r="0" b="-143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93968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18034" y="5413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858170" y="4103075"/>
            <a:ext cx="571661" cy="470780"/>
            <a:chOff x="0" y="0"/>
            <a:chExt cx="647700" cy="533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5423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0650" y="107950"/>
              <a:ext cx="527050" cy="260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54883" y="3456074"/>
            <a:ext cx="5366224" cy="1559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81"/>
              </a:lnSpc>
            </a:pPr>
            <a:r>
              <a:rPr lang="en-US" sz="4486" b="true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O QUE É O</a:t>
            </a:r>
          </a:p>
          <a:p>
            <a:pPr algn="l">
              <a:lnSpc>
                <a:spcPts val="6281"/>
              </a:lnSpc>
              <a:spcBef>
                <a:spcPct val="0"/>
              </a:spcBef>
            </a:pPr>
            <a:r>
              <a:rPr lang="en-US" b="true" sz="4486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BEECROWD?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4883" y="5095875"/>
            <a:ext cx="6723753" cy="177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3046" indent="-276523" lvl="1">
              <a:lnSpc>
                <a:spcPts val="3586"/>
              </a:lnSpc>
              <a:buFont typeface="Arial"/>
              <a:buChar char="•"/>
            </a:pPr>
            <a:r>
              <a:rPr lang="en-US" sz="256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Plataforma para praticar programação</a:t>
            </a:r>
          </a:p>
          <a:p>
            <a:pPr algn="just" marL="553046" indent="-276523" lvl="1">
              <a:lnSpc>
                <a:spcPts val="3586"/>
              </a:lnSpc>
              <a:buFont typeface="Arial"/>
              <a:buChar char="•"/>
            </a:pPr>
            <a:r>
              <a:rPr lang="en-US" sz="256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Você resolve problemas</a:t>
            </a:r>
          </a:p>
          <a:p>
            <a:pPr algn="just" marL="553046" indent="-276523" lvl="1">
              <a:lnSpc>
                <a:spcPts val="3586"/>
              </a:lnSpc>
              <a:buFont typeface="Arial"/>
              <a:buChar char="•"/>
            </a:pPr>
            <a:r>
              <a:rPr lang="en-US" sz="256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Seu código é corrigido automaticamente</a:t>
            </a:r>
          </a:p>
          <a:p>
            <a:pPr algn="just">
              <a:lnSpc>
                <a:spcPts val="3586"/>
              </a:lnSpc>
              <a:spcBef>
                <a:spcPct val="0"/>
              </a:spcBef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8858170" y="5015196"/>
            <a:ext cx="571661" cy="470780"/>
            <a:chOff x="0" y="0"/>
            <a:chExt cx="647700" cy="533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54236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20650" y="107950"/>
              <a:ext cx="527050" cy="260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1935791" y="-4043974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59465" y="5719634"/>
            <a:ext cx="11176533" cy="3333867"/>
          </a:xfrm>
          <a:custGeom>
            <a:avLst/>
            <a:gdLst/>
            <a:ahLst/>
            <a:cxnLst/>
            <a:rect r="r" b="b" t="t" l="l"/>
            <a:pathLst>
              <a:path h="3333867" w="11176533">
                <a:moveTo>
                  <a:pt x="0" y="0"/>
                </a:moveTo>
                <a:lnTo>
                  <a:pt x="11176534" y="0"/>
                </a:lnTo>
                <a:lnTo>
                  <a:pt x="11176534" y="3333867"/>
                </a:lnTo>
                <a:lnTo>
                  <a:pt x="0" y="3333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64524" y="649288"/>
            <a:ext cx="8553155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👉 COMO FUNCIONA?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0408" y="3004351"/>
            <a:ext cx="15834648" cy="271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3"/>
              </a:lnSpc>
            </a:pPr>
            <a:r>
              <a:rPr lang="en-US" sz="2224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Seu código precisa ler os valores da entrada, processar esses dados e produzir exatamente a saída esperada.</a:t>
            </a:r>
          </a:p>
          <a:p>
            <a:pPr algn="just">
              <a:lnSpc>
                <a:spcPts val="3113"/>
              </a:lnSpc>
            </a:pPr>
          </a:p>
          <a:p>
            <a:pPr algn="just">
              <a:lnSpc>
                <a:spcPts val="3113"/>
              </a:lnSpc>
            </a:pPr>
            <a:r>
              <a:rPr lang="en-US" sz="2224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No beecrowd, cada problema define:</a:t>
            </a:r>
          </a:p>
          <a:p>
            <a:pPr algn="just" marL="480187" indent="-240093" lvl="1">
              <a:lnSpc>
                <a:spcPts val="3113"/>
              </a:lnSpc>
              <a:buFont typeface="Arial"/>
              <a:buChar char="•"/>
            </a:pPr>
            <a:r>
              <a:rPr lang="en-US" sz="2224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quais dados você recebe (entrada)</a:t>
            </a:r>
          </a:p>
          <a:p>
            <a:pPr algn="just" marL="480187" indent="-240093" lvl="1">
              <a:lnSpc>
                <a:spcPts val="3113"/>
              </a:lnSpc>
              <a:buFont typeface="Arial"/>
              <a:buChar char="•"/>
            </a:pPr>
            <a:r>
              <a:rPr lang="en-US" sz="2224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o que você deve calcular</a:t>
            </a:r>
          </a:p>
          <a:p>
            <a:pPr algn="just" marL="480187" indent="-240093" lvl="1">
              <a:lnSpc>
                <a:spcPts val="3113"/>
              </a:lnSpc>
              <a:buFont typeface="Arial"/>
              <a:buChar char="•"/>
            </a:pPr>
            <a:r>
              <a:rPr lang="en-US" sz="2224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como a resposta deve ser exibida (saída)</a:t>
            </a:r>
          </a:p>
          <a:p>
            <a:pPr algn="just">
              <a:lnSpc>
                <a:spcPts val="311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317092" y="1991572"/>
            <a:ext cx="9653816" cy="40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  <a:spcBef>
                <a:spcPct val="0"/>
              </a:spcBef>
            </a:pPr>
            <a:r>
              <a:rPr lang="en-US" b="true" sz="2398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📥 ENTRADA → 💻 CÓDIGO → 📤 SAÍDA → 🤖 CORREÇÃO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3081679" y="-417752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5"/>
                </a:lnTo>
                <a:lnTo>
                  <a:pt x="0" y="739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348738" y="3506029"/>
            <a:ext cx="12685809" cy="6641418"/>
            <a:chOff x="0" y="0"/>
            <a:chExt cx="1284644" cy="6725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4644" cy="672551"/>
            </a:xfrm>
            <a:custGeom>
              <a:avLst/>
              <a:gdLst/>
              <a:ahLst/>
              <a:cxnLst/>
              <a:rect r="r" b="b" t="t" l="l"/>
              <a:pathLst>
                <a:path h="672551" w="1284644">
                  <a:moveTo>
                    <a:pt x="18308" y="0"/>
                  </a:moveTo>
                  <a:lnTo>
                    <a:pt x="1266335" y="0"/>
                  </a:lnTo>
                  <a:cubicBezTo>
                    <a:pt x="1276447" y="0"/>
                    <a:pt x="1284644" y="8197"/>
                    <a:pt x="1284644" y="18308"/>
                  </a:cubicBezTo>
                  <a:lnTo>
                    <a:pt x="1284644" y="654243"/>
                  </a:lnTo>
                  <a:cubicBezTo>
                    <a:pt x="1284644" y="659099"/>
                    <a:pt x="1282715" y="663755"/>
                    <a:pt x="1279281" y="667189"/>
                  </a:cubicBezTo>
                  <a:cubicBezTo>
                    <a:pt x="1275848" y="670622"/>
                    <a:pt x="1271191" y="672551"/>
                    <a:pt x="1266335" y="672551"/>
                  </a:cubicBezTo>
                  <a:lnTo>
                    <a:pt x="18308" y="672551"/>
                  </a:lnTo>
                  <a:cubicBezTo>
                    <a:pt x="13453" y="672551"/>
                    <a:pt x="8796" y="670622"/>
                    <a:pt x="5362" y="667189"/>
                  </a:cubicBezTo>
                  <a:cubicBezTo>
                    <a:pt x="1929" y="663755"/>
                    <a:pt x="0" y="659099"/>
                    <a:pt x="0" y="654243"/>
                  </a:cubicBezTo>
                  <a:lnTo>
                    <a:pt x="0" y="18308"/>
                  </a:lnTo>
                  <a:cubicBezTo>
                    <a:pt x="0" y="13453"/>
                    <a:pt x="1929" y="8796"/>
                    <a:pt x="5362" y="5362"/>
                  </a:cubicBezTo>
                  <a:cubicBezTo>
                    <a:pt x="8796" y="1929"/>
                    <a:pt x="13453" y="0"/>
                    <a:pt x="1830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318" r="0" b="-4318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844789" y="36043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9" y="0"/>
                </a:lnTo>
                <a:lnTo>
                  <a:pt x="471359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89705" y="309260"/>
            <a:ext cx="8708591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CRIANDO SUA CONTA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908887"/>
            <a:ext cx="9590053" cy="1403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3933" indent="-291967" lvl="1">
              <a:lnSpc>
                <a:spcPts val="3786"/>
              </a:lnSpc>
              <a:buFont typeface="Arial"/>
              <a:buChar char="•"/>
            </a:pPr>
            <a:r>
              <a:rPr lang="en-US" sz="2704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Acesse: </a:t>
            </a:r>
            <a:r>
              <a:rPr lang="en-US" sz="2704" u="sng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  <a:hlinkClick r:id="rId7" tooltip="https://judge.beecrowd.com"/>
              </a:rPr>
              <a:t>judge.beecrowd.com/</a:t>
            </a:r>
          </a:p>
          <a:p>
            <a:pPr algn="just" marL="583933" indent="-291967" lvl="1">
              <a:lnSpc>
                <a:spcPts val="3786"/>
              </a:lnSpc>
              <a:buFont typeface="Arial"/>
              <a:buChar char="•"/>
            </a:pPr>
            <a:r>
              <a:rPr lang="en-US" sz="2704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Clique em “Inscreva-se”</a:t>
            </a:r>
          </a:p>
          <a:p>
            <a:pPr algn="just" marL="583933" indent="-291967" lvl="1">
              <a:lnSpc>
                <a:spcPts val="3786"/>
              </a:lnSpc>
              <a:spcBef>
                <a:spcPct val="0"/>
              </a:spcBef>
              <a:buFont typeface="Arial"/>
              <a:buChar char="•"/>
            </a:pPr>
            <a:r>
              <a:rPr lang="en-US" sz="2704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Preencha seus dados</a:t>
            </a:r>
          </a:p>
        </p:txBody>
      </p:sp>
      <p:grpSp>
        <p:nvGrpSpPr>
          <p:cNvPr name="Group 9" id="9"/>
          <p:cNvGrpSpPr/>
          <p:nvPr/>
        </p:nvGrpSpPr>
        <p:grpSpPr>
          <a:xfrm rot="2529282">
            <a:off x="13582339" y="5082479"/>
            <a:ext cx="571661" cy="470780"/>
            <a:chOff x="0" y="0"/>
            <a:chExt cx="647700" cy="533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54236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0650" y="107950"/>
              <a:ext cx="527050" cy="260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930961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5870799" y="-5004433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01471" y="4789508"/>
            <a:ext cx="16470339" cy="3462320"/>
            <a:chOff x="0" y="0"/>
            <a:chExt cx="3275426" cy="6885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75426" cy="688545"/>
            </a:xfrm>
            <a:custGeom>
              <a:avLst/>
              <a:gdLst/>
              <a:ahLst/>
              <a:cxnLst/>
              <a:rect r="r" b="b" t="t" l="l"/>
              <a:pathLst>
                <a:path h="688545" w="3275426">
                  <a:moveTo>
                    <a:pt x="14102" y="0"/>
                  </a:moveTo>
                  <a:lnTo>
                    <a:pt x="3261325" y="0"/>
                  </a:lnTo>
                  <a:cubicBezTo>
                    <a:pt x="3265064" y="0"/>
                    <a:pt x="3268651" y="1486"/>
                    <a:pt x="3271296" y="4130"/>
                  </a:cubicBezTo>
                  <a:cubicBezTo>
                    <a:pt x="3273940" y="6775"/>
                    <a:pt x="3275426" y="10362"/>
                    <a:pt x="3275426" y="14102"/>
                  </a:cubicBezTo>
                  <a:lnTo>
                    <a:pt x="3275426" y="674444"/>
                  </a:lnTo>
                  <a:cubicBezTo>
                    <a:pt x="3275426" y="682232"/>
                    <a:pt x="3269112" y="688545"/>
                    <a:pt x="3261325" y="688545"/>
                  </a:cubicBezTo>
                  <a:lnTo>
                    <a:pt x="14102" y="688545"/>
                  </a:lnTo>
                  <a:cubicBezTo>
                    <a:pt x="10362" y="688545"/>
                    <a:pt x="6775" y="687059"/>
                    <a:pt x="4130" y="684415"/>
                  </a:cubicBezTo>
                  <a:cubicBezTo>
                    <a:pt x="1486" y="681770"/>
                    <a:pt x="0" y="678184"/>
                    <a:pt x="0" y="674444"/>
                  </a:cubicBezTo>
                  <a:lnTo>
                    <a:pt x="0" y="14102"/>
                  </a:lnTo>
                  <a:cubicBezTo>
                    <a:pt x="0" y="6313"/>
                    <a:pt x="6313" y="0"/>
                    <a:pt x="14102" y="0"/>
                  </a:cubicBezTo>
                  <a:close/>
                </a:path>
              </a:pathLst>
            </a:custGeom>
            <a:blipFill>
              <a:blip r:embed="rId4"/>
              <a:stretch>
                <a:fillRect l="-2227" t="0" r="-222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8493124">
            <a:off x="10003940" y="4162282"/>
            <a:ext cx="1373348" cy="536577"/>
            <a:chOff x="0" y="0"/>
            <a:chExt cx="1365216" cy="533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5216" cy="533400"/>
            </a:xfrm>
            <a:custGeom>
              <a:avLst/>
              <a:gdLst/>
              <a:ahLst/>
              <a:cxnLst/>
              <a:rect r="r" b="b" t="t" l="l"/>
              <a:pathLst>
                <a:path h="533400" w="1365216">
                  <a:moveTo>
                    <a:pt x="239386" y="166418"/>
                  </a:moveTo>
                  <a:lnTo>
                    <a:pt x="1365216" y="166418"/>
                  </a:lnTo>
                  <a:lnTo>
                    <a:pt x="1365216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54236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0650" y="107950"/>
              <a:ext cx="1244566" cy="260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791288" y="221109"/>
            <a:ext cx="8690706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ACESSANDO A LISTA DE PROBLEMAS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1471" y="3281742"/>
            <a:ext cx="9245902" cy="137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7"/>
              </a:lnSpc>
            </a:pPr>
            <a:r>
              <a:rPr lang="en-US" b="true" sz="3983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NO MENU SUPERIOR, CLIQUE EM PROBLEMAS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55444" y="1616828"/>
            <a:ext cx="551033" cy="43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5"/>
              </a:lnSpc>
            </a:pPr>
            <a:r>
              <a:rPr lang="en-US" b="true" sz="2567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1/3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930961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5870799" y="-5004433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3475" y="4876905"/>
            <a:ext cx="14995893" cy="4517513"/>
          </a:xfrm>
          <a:custGeom>
            <a:avLst/>
            <a:gdLst/>
            <a:ahLst/>
            <a:cxnLst/>
            <a:rect r="r" b="b" t="t" l="l"/>
            <a:pathLst>
              <a:path h="4517513" w="14995893">
                <a:moveTo>
                  <a:pt x="0" y="0"/>
                </a:moveTo>
                <a:lnTo>
                  <a:pt x="14995894" y="0"/>
                </a:lnTo>
                <a:lnTo>
                  <a:pt x="14995894" y="4517513"/>
                </a:lnTo>
                <a:lnTo>
                  <a:pt x="0" y="4517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546032">
            <a:off x="8278566" y="7615569"/>
            <a:ext cx="780236" cy="536577"/>
            <a:chOff x="0" y="0"/>
            <a:chExt cx="775615" cy="533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5615" cy="533400"/>
            </a:xfrm>
            <a:custGeom>
              <a:avLst/>
              <a:gdLst/>
              <a:ahLst/>
              <a:cxnLst/>
              <a:rect r="r" b="b" t="t" l="l"/>
              <a:pathLst>
                <a:path h="533400" w="775615">
                  <a:moveTo>
                    <a:pt x="239386" y="166418"/>
                  </a:moveTo>
                  <a:lnTo>
                    <a:pt x="775615" y="166418"/>
                  </a:lnTo>
                  <a:lnTo>
                    <a:pt x="775615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5423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0650" y="107950"/>
              <a:ext cx="654965" cy="260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791288" y="221109"/>
            <a:ext cx="8690706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ACESSANDO A LISTA DE PROBLEMAS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3475" y="2896255"/>
            <a:ext cx="13865019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EM CATEGORIAS, ESCOLHA ONDE COMEÇAR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AS CATEGORIAS ORGANIZAM OS PROBLEMAS POR NÍVEL E TIPO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PARA INICIANTES, COMECE PELA CATEGORIA INICIANTE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CLIQUE EM INICIANTE PARA VER OS PRIMEIROS EXERCÍCIOS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55444" y="1616828"/>
            <a:ext cx="651887" cy="43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5"/>
              </a:lnSpc>
            </a:pPr>
            <a:r>
              <a:rPr lang="en-US" b="true" sz="2567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2/3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930961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5870799" y="-5004433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19035" y="3767517"/>
            <a:ext cx="13272940" cy="6171917"/>
          </a:xfrm>
          <a:custGeom>
            <a:avLst/>
            <a:gdLst/>
            <a:ahLst/>
            <a:cxnLst/>
            <a:rect r="r" b="b" t="t" l="l"/>
            <a:pathLst>
              <a:path h="6171917" w="13272940">
                <a:moveTo>
                  <a:pt x="0" y="0"/>
                </a:moveTo>
                <a:lnTo>
                  <a:pt x="13272940" y="0"/>
                </a:lnTo>
                <a:lnTo>
                  <a:pt x="13272940" y="6171918"/>
                </a:lnTo>
                <a:lnTo>
                  <a:pt x="0" y="6171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4444656" y="7141690"/>
            <a:ext cx="780236" cy="536577"/>
            <a:chOff x="0" y="0"/>
            <a:chExt cx="775615" cy="533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5615" cy="533400"/>
            </a:xfrm>
            <a:custGeom>
              <a:avLst/>
              <a:gdLst/>
              <a:ahLst/>
              <a:cxnLst/>
              <a:rect r="r" b="b" t="t" l="l"/>
              <a:pathLst>
                <a:path h="533400" w="775615">
                  <a:moveTo>
                    <a:pt x="239386" y="166418"/>
                  </a:moveTo>
                  <a:lnTo>
                    <a:pt x="775615" y="166418"/>
                  </a:lnTo>
                  <a:lnTo>
                    <a:pt x="775615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5423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0650" y="107950"/>
              <a:ext cx="654965" cy="260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791288" y="221109"/>
            <a:ext cx="8690706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ACESSANDO A LISTA DE PROBLEMAS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55444" y="1616828"/>
            <a:ext cx="651887" cy="43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5"/>
              </a:lnSpc>
            </a:pPr>
            <a:r>
              <a:rPr lang="en-US" b="true" sz="2567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3/3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19035" y="2533077"/>
            <a:ext cx="746655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AQUI ESTÃO OS PROBLEMAS DISPONÍVEIS.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19035" y="2952177"/>
            <a:ext cx="68117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CLI</a:t>
            </a:r>
            <a:r>
              <a:rPr lang="en-US" b="true" sz="24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QUE EM UM PROBLEMA PARA ABRIR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15397707" y="6589863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5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5" y="0"/>
                </a:lnTo>
                <a:lnTo>
                  <a:pt x="7394275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529359" y="3070276"/>
            <a:ext cx="9229282" cy="7039173"/>
            <a:chOff x="0" y="0"/>
            <a:chExt cx="884789" cy="6748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4789" cy="674828"/>
            </a:xfrm>
            <a:custGeom>
              <a:avLst/>
              <a:gdLst/>
              <a:ahLst/>
              <a:cxnLst/>
              <a:rect r="r" b="b" t="t" l="l"/>
              <a:pathLst>
                <a:path h="674828" w="884789">
                  <a:moveTo>
                    <a:pt x="25165" y="0"/>
                  </a:moveTo>
                  <a:lnTo>
                    <a:pt x="859623" y="0"/>
                  </a:lnTo>
                  <a:cubicBezTo>
                    <a:pt x="866298" y="0"/>
                    <a:pt x="872698" y="2651"/>
                    <a:pt x="877418" y="7371"/>
                  </a:cubicBezTo>
                  <a:cubicBezTo>
                    <a:pt x="882137" y="12090"/>
                    <a:pt x="884789" y="18491"/>
                    <a:pt x="884789" y="25165"/>
                  </a:cubicBezTo>
                  <a:lnTo>
                    <a:pt x="884789" y="649663"/>
                  </a:lnTo>
                  <a:cubicBezTo>
                    <a:pt x="884789" y="663561"/>
                    <a:pt x="873522" y="674828"/>
                    <a:pt x="859623" y="674828"/>
                  </a:cubicBezTo>
                  <a:lnTo>
                    <a:pt x="25165" y="674828"/>
                  </a:lnTo>
                  <a:cubicBezTo>
                    <a:pt x="18491" y="674828"/>
                    <a:pt x="12090" y="672177"/>
                    <a:pt x="7371" y="667457"/>
                  </a:cubicBezTo>
                  <a:cubicBezTo>
                    <a:pt x="2651" y="662738"/>
                    <a:pt x="0" y="656337"/>
                    <a:pt x="0" y="649663"/>
                  </a:cubicBezTo>
                  <a:lnTo>
                    <a:pt x="0" y="25165"/>
                  </a:lnTo>
                  <a:cubicBezTo>
                    <a:pt x="0" y="18491"/>
                    <a:pt x="2651" y="12090"/>
                    <a:pt x="7371" y="7371"/>
                  </a:cubicBezTo>
                  <a:cubicBezTo>
                    <a:pt x="12090" y="2651"/>
                    <a:pt x="18491" y="0"/>
                    <a:pt x="2516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312" r="0" b="-1312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93021" y="9258300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64379" y="1419600"/>
            <a:ext cx="6608510" cy="144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9005" indent="-224503" lvl="1">
              <a:lnSpc>
                <a:spcPts val="2911"/>
              </a:lnSpc>
              <a:buFont typeface="Arial"/>
              <a:buChar char="•"/>
            </a:pPr>
            <a:r>
              <a:rPr lang="en-US" b="true" sz="207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LEIA O ENUNCIADO COM ATENÇÃO</a:t>
            </a:r>
          </a:p>
          <a:p>
            <a:pPr algn="just" marL="449005" indent="-224503" lvl="1">
              <a:lnSpc>
                <a:spcPts val="2911"/>
              </a:lnSpc>
              <a:buFont typeface="Arial"/>
              <a:buChar char="•"/>
            </a:pPr>
            <a:r>
              <a:rPr lang="en-US" b="true" sz="207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IDENTIFIQUE OS DADOS DE ENTRADA</a:t>
            </a:r>
          </a:p>
          <a:p>
            <a:pPr algn="just" marL="449005" indent="-224503" lvl="1">
              <a:lnSpc>
                <a:spcPts val="291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7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OBSERVE O FORMATO DA SAÍDA</a:t>
            </a:r>
          </a:p>
          <a:p>
            <a:pPr algn="just" marL="449005" indent="-224503" lvl="1">
              <a:lnSpc>
                <a:spcPts val="291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7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ENTENDA O QUE O PROBLEMA PEDE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0800000">
            <a:off x="-4270344" y="-3555349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5"/>
                </a:lnTo>
                <a:lnTo>
                  <a:pt x="0" y="739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02232" y="141605"/>
            <a:ext cx="788353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  <a:spcBef>
                <a:spcPct val="0"/>
              </a:spcBef>
            </a:pPr>
            <a:r>
              <a:rPr lang="en-US" b="true" sz="52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LENDO O PROBLEMA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930961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5870799" y="-5004433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452972" y="870173"/>
            <a:ext cx="6846373" cy="9050857"/>
            <a:chOff x="0" y="0"/>
            <a:chExt cx="9128497" cy="1206781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690809"/>
              <a:ext cx="9128497" cy="11377001"/>
              <a:chOff x="0" y="0"/>
              <a:chExt cx="871079" cy="1085641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71079" cy="1085641"/>
              </a:xfrm>
              <a:custGeom>
                <a:avLst/>
                <a:gdLst/>
                <a:ahLst/>
                <a:cxnLst/>
                <a:rect r="r" b="b" t="t" l="l"/>
                <a:pathLst>
                  <a:path h="1085641" w="871079">
                    <a:moveTo>
                      <a:pt x="37239" y="0"/>
                    </a:moveTo>
                    <a:lnTo>
                      <a:pt x="833840" y="0"/>
                    </a:lnTo>
                    <a:cubicBezTo>
                      <a:pt x="854407" y="0"/>
                      <a:pt x="871079" y="16672"/>
                      <a:pt x="871079" y="37239"/>
                    </a:cubicBezTo>
                    <a:lnTo>
                      <a:pt x="871079" y="1048402"/>
                    </a:lnTo>
                    <a:cubicBezTo>
                      <a:pt x="871079" y="1058278"/>
                      <a:pt x="867156" y="1067750"/>
                      <a:pt x="860172" y="1074734"/>
                    </a:cubicBezTo>
                    <a:cubicBezTo>
                      <a:pt x="853188" y="1081717"/>
                      <a:pt x="843717" y="1085641"/>
                      <a:pt x="833840" y="1085641"/>
                    </a:cubicBezTo>
                    <a:lnTo>
                      <a:pt x="37239" y="1085641"/>
                    </a:lnTo>
                    <a:cubicBezTo>
                      <a:pt x="16672" y="1085641"/>
                      <a:pt x="0" y="1068968"/>
                      <a:pt x="0" y="1048402"/>
                    </a:cubicBezTo>
                    <a:lnTo>
                      <a:pt x="0" y="37239"/>
                    </a:lnTo>
                    <a:cubicBezTo>
                      <a:pt x="0" y="27363"/>
                      <a:pt x="3923" y="17891"/>
                      <a:pt x="10907" y="10907"/>
                    </a:cubicBezTo>
                    <a:cubicBezTo>
                      <a:pt x="17891" y="3923"/>
                      <a:pt x="27363" y="0"/>
                      <a:pt x="37239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1121" t="0" r="-1121" b="0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-3057320">
              <a:off x="5401550" y="298138"/>
              <a:ext cx="1141962" cy="785341"/>
              <a:chOff x="0" y="0"/>
              <a:chExt cx="775615" cy="533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75615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775615">
                    <a:moveTo>
                      <a:pt x="239386" y="166418"/>
                    </a:moveTo>
                    <a:lnTo>
                      <a:pt x="775615" y="166418"/>
                    </a:lnTo>
                    <a:lnTo>
                      <a:pt x="775615" y="366942"/>
                    </a:lnTo>
                    <a:lnTo>
                      <a:pt x="239373" y="366942"/>
                    </a:lnTo>
                    <a:lnTo>
                      <a:pt x="302255" y="533400"/>
                    </a:lnTo>
                    <a:lnTo>
                      <a:pt x="0" y="266700"/>
                    </a:lnTo>
                    <a:lnTo>
                      <a:pt x="302255" y="0"/>
                    </a:lnTo>
                    <a:lnTo>
                      <a:pt x="239386" y="166418"/>
                    </a:lnTo>
                    <a:close/>
                  </a:path>
                </a:pathLst>
              </a:custGeom>
              <a:solidFill>
                <a:srgbClr val="542366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20650" y="107950"/>
                <a:ext cx="654965" cy="260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1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-3057320">
              <a:off x="7734740" y="10550541"/>
              <a:ext cx="1141962" cy="785341"/>
              <a:chOff x="0" y="0"/>
              <a:chExt cx="775615" cy="533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75615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775615">
                    <a:moveTo>
                      <a:pt x="239386" y="166418"/>
                    </a:moveTo>
                    <a:lnTo>
                      <a:pt x="775615" y="166418"/>
                    </a:lnTo>
                    <a:lnTo>
                      <a:pt x="775615" y="366942"/>
                    </a:lnTo>
                    <a:lnTo>
                      <a:pt x="239373" y="366942"/>
                    </a:lnTo>
                    <a:lnTo>
                      <a:pt x="302255" y="533400"/>
                    </a:lnTo>
                    <a:lnTo>
                      <a:pt x="0" y="266700"/>
                    </a:lnTo>
                    <a:lnTo>
                      <a:pt x="302255" y="0"/>
                    </a:lnTo>
                    <a:lnTo>
                      <a:pt x="239386" y="166418"/>
                    </a:lnTo>
                    <a:close/>
                  </a:path>
                </a:pathLst>
              </a:custGeom>
              <a:solidFill>
                <a:srgbClr val="54236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20650" y="107950"/>
                <a:ext cx="654965" cy="260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1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4402455" y="74380"/>
            <a:ext cx="8132314" cy="795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0"/>
              </a:lnSpc>
              <a:spcBef>
                <a:spcPct val="0"/>
              </a:spcBef>
            </a:pPr>
            <a:r>
              <a:rPr lang="en-US" b="true" sz="4678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ESCREVENDO O CÓDIGO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2329" y="1455872"/>
            <a:ext cx="8045718" cy="208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5928" indent="-217964" lvl="1">
              <a:lnSpc>
                <a:spcPts val="2826"/>
              </a:lnSpc>
              <a:buFont typeface="Arial"/>
              <a:buChar char="•"/>
            </a:pPr>
            <a:r>
              <a:rPr lang="en-US" b="true" sz="201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AO LADO DIREITO DO PROBLEMA ESTÁ O CAMPO DE CÓDIGO</a:t>
            </a:r>
          </a:p>
          <a:p>
            <a:pPr algn="just">
              <a:lnSpc>
                <a:spcPts val="2826"/>
              </a:lnSpc>
            </a:pPr>
          </a:p>
          <a:p>
            <a:pPr algn="just" marL="435928" indent="-217964" lvl="1">
              <a:lnSpc>
                <a:spcPts val="2826"/>
              </a:lnSpc>
              <a:buFont typeface="Arial"/>
              <a:buChar char="•"/>
            </a:pPr>
            <a:r>
              <a:rPr lang="en-US" b="true" sz="201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E</a:t>
            </a:r>
            <a:r>
              <a:rPr lang="en-US" b="true" sz="201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SCOLHA A LINGUAGEM (EX: PYTHON)</a:t>
            </a:r>
          </a:p>
          <a:p>
            <a:pPr algn="just">
              <a:lnSpc>
                <a:spcPts val="2826"/>
              </a:lnSpc>
              <a:spcBef>
                <a:spcPct val="0"/>
              </a:spcBef>
            </a:pPr>
          </a:p>
          <a:p>
            <a:pPr algn="just" marL="435928" indent="-217964" lvl="1">
              <a:lnSpc>
                <a:spcPts val="282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1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ESCREVA SUA SOLUÇÃO E CLIQUE EM ENVIAR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15397707" y="6589863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5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5" y="0"/>
                </a:lnTo>
                <a:lnTo>
                  <a:pt x="7394275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37575" y="4059735"/>
            <a:ext cx="12412850" cy="5198565"/>
            <a:chOff x="0" y="0"/>
            <a:chExt cx="1611318" cy="6748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11318" cy="674828"/>
            </a:xfrm>
            <a:custGeom>
              <a:avLst/>
              <a:gdLst/>
              <a:ahLst/>
              <a:cxnLst/>
              <a:rect r="r" b="b" t="t" l="l"/>
              <a:pathLst>
                <a:path h="674828" w="1611318">
                  <a:moveTo>
                    <a:pt x="18711" y="0"/>
                  </a:moveTo>
                  <a:lnTo>
                    <a:pt x="1592607" y="0"/>
                  </a:lnTo>
                  <a:cubicBezTo>
                    <a:pt x="1597569" y="0"/>
                    <a:pt x="1602329" y="1971"/>
                    <a:pt x="1605838" y="5480"/>
                  </a:cubicBezTo>
                  <a:cubicBezTo>
                    <a:pt x="1609347" y="8989"/>
                    <a:pt x="1611318" y="13749"/>
                    <a:pt x="1611318" y="18711"/>
                  </a:cubicBezTo>
                  <a:lnTo>
                    <a:pt x="1611318" y="656117"/>
                  </a:lnTo>
                  <a:cubicBezTo>
                    <a:pt x="1611318" y="666451"/>
                    <a:pt x="1602941" y="674828"/>
                    <a:pt x="1592607" y="674828"/>
                  </a:cubicBezTo>
                  <a:lnTo>
                    <a:pt x="18711" y="674828"/>
                  </a:lnTo>
                  <a:cubicBezTo>
                    <a:pt x="8377" y="674828"/>
                    <a:pt x="0" y="666451"/>
                    <a:pt x="0" y="656117"/>
                  </a:cubicBezTo>
                  <a:lnTo>
                    <a:pt x="0" y="18711"/>
                  </a:lnTo>
                  <a:cubicBezTo>
                    <a:pt x="0" y="8377"/>
                    <a:pt x="8377" y="0"/>
                    <a:pt x="18711" y="0"/>
                  </a:cubicBezTo>
                  <a:close/>
                </a:path>
              </a:pathLst>
            </a:custGeom>
            <a:blipFill>
              <a:blip r:embed="rId4"/>
              <a:stretch>
                <a:fillRect l="-287" t="0" r="-28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10800000">
            <a:off x="-4270344" y="-3555349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5"/>
                </a:lnTo>
                <a:lnTo>
                  <a:pt x="0" y="739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56874" y="165100"/>
            <a:ext cx="1086881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RESULTADOS DA SUBMISSÃO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6008" y="1439575"/>
            <a:ext cx="15575984" cy="210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0"/>
              </a:lnSpc>
            </a:pPr>
            <a:r>
              <a:rPr lang="en-US" b="true" sz="1992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QUANDO VOCÊ ENVIA SEU CÓDIGO, O SISTEMA TESTA AUTOMATICAMENTE SUA SOLUÇÃO COM VÁRIOS CASOS DE ENTRADA. </a:t>
            </a:r>
          </a:p>
          <a:p>
            <a:pPr algn="just">
              <a:lnSpc>
                <a:spcPts val="2790"/>
              </a:lnSpc>
            </a:pPr>
          </a:p>
          <a:p>
            <a:pPr algn="just">
              <a:lnSpc>
                <a:spcPts val="2790"/>
              </a:lnSpc>
              <a:spcBef>
                <a:spcPct val="0"/>
              </a:spcBef>
            </a:pPr>
            <a:r>
              <a:rPr lang="en-US" b="true" sz="1992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SE TUDO ESTIVER CORRETO, O RESULTADO SERÁ ACCEPTED, INDICANDO QUE SUA RESPOSTA ESTÁ CERTA. CASO CONTRÁRIO, O SI</a:t>
            </a:r>
            <a:r>
              <a:rPr lang="en-US" b="true" sz="1992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STEMA RETORNA UM ERRO, MOSTRANDO QUE ALGO PRECISA SER AJUSTADO NO SEU CÓDIGO.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98537" y="530873"/>
            <a:ext cx="651887" cy="43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5"/>
              </a:lnSpc>
            </a:pPr>
            <a:r>
              <a:rPr lang="en-US" b="true" sz="2567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1/4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15426625" y="-4544430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5"/>
                </a:moveTo>
                <a:lnTo>
                  <a:pt x="0" y="7394275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5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4456699" y="6811754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56874" y="165100"/>
            <a:ext cx="1086881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RESULTADOS DA SUBMISSÃO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6008" y="1439575"/>
            <a:ext cx="15575984" cy="2454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0"/>
              </a:lnSpc>
            </a:pPr>
            <a:r>
              <a:rPr lang="en-US" b="true" sz="1992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QUANDO O RESULTADO É WRONG ANSWER, SIGNIFICA QUE SUA RESPOSTA NÃO CORRESPONDE EXATAMENTE AO ESPERADO PELO PROBLEMA. ISSO PODE ACONTECER MESMO QUANDO O CÁLCULO ESTÁ CORRETO, MAS O FORMATO DA SAÍDA ESTÁ DIFERENTE.</a:t>
            </a:r>
          </a:p>
          <a:p>
            <a:pPr algn="just">
              <a:lnSpc>
                <a:spcPts val="2790"/>
              </a:lnSpc>
            </a:pPr>
          </a:p>
          <a:p>
            <a:pPr algn="just">
              <a:lnSpc>
                <a:spcPts val="2790"/>
              </a:lnSpc>
              <a:spcBef>
                <a:spcPct val="0"/>
              </a:spcBef>
            </a:pPr>
            <a:r>
              <a:rPr lang="en-US" b="true" sz="1992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PEQUENOS DETALHES, COMO ESPAÇOS, LETRAS MAIÚSCULAS OU </a:t>
            </a:r>
            <a:r>
              <a:rPr lang="en-US" b="true" sz="1992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TEXTOS ADICIONAIS, PODEM FAZER COM QUE O SISTEMA CONSIDERE SUA RESPOSTA INCORRETA.</a:t>
            </a:r>
          </a:p>
          <a:p>
            <a:pPr algn="just">
              <a:lnSpc>
                <a:spcPts val="279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698537" y="530873"/>
            <a:ext cx="651887" cy="43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5"/>
              </a:lnSpc>
            </a:pPr>
            <a:r>
              <a:rPr lang="en-US" b="true" sz="2567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2/4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937575" y="3989281"/>
            <a:ext cx="12412850" cy="5198565"/>
            <a:chOff x="0" y="0"/>
            <a:chExt cx="1611318" cy="6748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11318" cy="674828"/>
            </a:xfrm>
            <a:custGeom>
              <a:avLst/>
              <a:gdLst/>
              <a:ahLst/>
              <a:cxnLst/>
              <a:rect r="r" b="b" t="t" l="l"/>
              <a:pathLst>
                <a:path h="674828" w="1611318">
                  <a:moveTo>
                    <a:pt x="18711" y="0"/>
                  </a:moveTo>
                  <a:lnTo>
                    <a:pt x="1592607" y="0"/>
                  </a:lnTo>
                  <a:cubicBezTo>
                    <a:pt x="1597569" y="0"/>
                    <a:pt x="1602329" y="1971"/>
                    <a:pt x="1605838" y="5480"/>
                  </a:cubicBezTo>
                  <a:cubicBezTo>
                    <a:pt x="1609347" y="8989"/>
                    <a:pt x="1611318" y="13749"/>
                    <a:pt x="1611318" y="18711"/>
                  </a:cubicBezTo>
                  <a:lnTo>
                    <a:pt x="1611318" y="656117"/>
                  </a:lnTo>
                  <a:cubicBezTo>
                    <a:pt x="1611318" y="666451"/>
                    <a:pt x="1602941" y="674828"/>
                    <a:pt x="1592607" y="674828"/>
                  </a:cubicBezTo>
                  <a:lnTo>
                    <a:pt x="18711" y="674828"/>
                  </a:lnTo>
                  <a:cubicBezTo>
                    <a:pt x="8377" y="674828"/>
                    <a:pt x="0" y="666451"/>
                    <a:pt x="0" y="656117"/>
                  </a:cubicBezTo>
                  <a:lnTo>
                    <a:pt x="0" y="18711"/>
                  </a:lnTo>
                  <a:cubicBezTo>
                    <a:pt x="0" y="8377"/>
                    <a:pt x="8377" y="0"/>
                    <a:pt x="18711" y="0"/>
                  </a:cubicBezTo>
                  <a:close/>
                </a:path>
              </a:pathLst>
            </a:custGeom>
            <a:blipFill>
              <a:blip r:embed="rId4"/>
              <a:stretch>
                <a:fillRect l="-287" t="0" r="-287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15397707" y="6589863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5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5" y="0"/>
                </a:lnTo>
                <a:lnTo>
                  <a:pt x="7394275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37575" y="4059735"/>
            <a:ext cx="12412850" cy="5198565"/>
            <a:chOff x="0" y="0"/>
            <a:chExt cx="1611318" cy="6748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11318" cy="674828"/>
            </a:xfrm>
            <a:custGeom>
              <a:avLst/>
              <a:gdLst/>
              <a:ahLst/>
              <a:cxnLst/>
              <a:rect r="r" b="b" t="t" l="l"/>
              <a:pathLst>
                <a:path h="674828" w="1611318">
                  <a:moveTo>
                    <a:pt x="18711" y="0"/>
                  </a:moveTo>
                  <a:lnTo>
                    <a:pt x="1592607" y="0"/>
                  </a:lnTo>
                  <a:cubicBezTo>
                    <a:pt x="1597569" y="0"/>
                    <a:pt x="1602329" y="1971"/>
                    <a:pt x="1605838" y="5480"/>
                  </a:cubicBezTo>
                  <a:cubicBezTo>
                    <a:pt x="1609347" y="8989"/>
                    <a:pt x="1611318" y="13749"/>
                    <a:pt x="1611318" y="18711"/>
                  </a:cubicBezTo>
                  <a:lnTo>
                    <a:pt x="1611318" y="656117"/>
                  </a:lnTo>
                  <a:cubicBezTo>
                    <a:pt x="1611318" y="666451"/>
                    <a:pt x="1602941" y="674828"/>
                    <a:pt x="1592607" y="674828"/>
                  </a:cubicBezTo>
                  <a:lnTo>
                    <a:pt x="18711" y="674828"/>
                  </a:lnTo>
                  <a:cubicBezTo>
                    <a:pt x="8377" y="674828"/>
                    <a:pt x="0" y="666451"/>
                    <a:pt x="0" y="656117"/>
                  </a:cubicBezTo>
                  <a:lnTo>
                    <a:pt x="0" y="18711"/>
                  </a:lnTo>
                  <a:cubicBezTo>
                    <a:pt x="0" y="8377"/>
                    <a:pt x="8377" y="0"/>
                    <a:pt x="1871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528" r="0" b="-1528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10800000">
            <a:off x="-4270344" y="-3555349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5"/>
                </a:lnTo>
                <a:lnTo>
                  <a:pt x="0" y="739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56874" y="165100"/>
            <a:ext cx="1086881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RESULTADOS DA SUBMISSÃO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6008" y="1439575"/>
            <a:ext cx="15575984" cy="2454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0"/>
              </a:lnSpc>
            </a:pPr>
            <a:r>
              <a:rPr lang="en-US" b="true" sz="1992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QUANDO O RESULTADO É RUNTIME ERROR, SIGNIFICA QUE O PROGRAMA APRESENTOU UM ERRO DURANTE A EXECUÇÃO.</a:t>
            </a:r>
          </a:p>
          <a:p>
            <a:pPr algn="just">
              <a:lnSpc>
                <a:spcPts val="2790"/>
              </a:lnSpc>
            </a:pPr>
            <a:r>
              <a:rPr lang="en-US" b="true" sz="1992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 </a:t>
            </a:r>
          </a:p>
          <a:p>
            <a:pPr algn="just">
              <a:lnSpc>
                <a:spcPts val="2790"/>
              </a:lnSpc>
            </a:pPr>
            <a:r>
              <a:rPr lang="en-US" b="true" sz="1992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ISSO PODE ACONTECER POR DIVERSOS MOTIVOS, COMO DIVISÃO POR ZERO, USO DE VARIÁVEIS INEXISTENTES OU CONVERSÕES INVÁLIDAS.</a:t>
            </a:r>
          </a:p>
          <a:p>
            <a:pPr algn="just">
              <a:lnSpc>
                <a:spcPts val="2790"/>
              </a:lnSpc>
              <a:spcBef>
                <a:spcPct val="0"/>
              </a:spcBef>
            </a:pPr>
            <a:r>
              <a:rPr lang="en-US" b="true" sz="1992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NESSE CASO, O CÓDIGO NÃO CONSEGUIU </a:t>
            </a:r>
            <a:r>
              <a:rPr lang="en-US" b="true" sz="1992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TERMINAR CORRETAMENTE E PRECISA SER CORRIGIDO.</a:t>
            </a:r>
          </a:p>
          <a:p>
            <a:pPr algn="just">
              <a:lnSpc>
                <a:spcPts val="279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698537" y="530873"/>
            <a:ext cx="651887" cy="43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5"/>
              </a:lnSpc>
            </a:pPr>
            <a:r>
              <a:rPr lang="en-US" b="true" sz="2567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3/4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15426625" y="-4544430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5"/>
                </a:moveTo>
                <a:lnTo>
                  <a:pt x="0" y="7394275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5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4456699" y="6811754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937575" y="3989281"/>
            <a:ext cx="12412850" cy="5198565"/>
            <a:chOff x="0" y="0"/>
            <a:chExt cx="1611318" cy="6748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1318" cy="674828"/>
            </a:xfrm>
            <a:custGeom>
              <a:avLst/>
              <a:gdLst/>
              <a:ahLst/>
              <a:cxnLst/>
              <a:rect r="r" b="b" t="t" l="l"/>
              <a:pathLst>
                <a:path h="674828" w="1611318">
                  <a:moveTo>
                    <a:pt x="18711" y="0"/>
                  </a:moveTo>
                  <a:lnTo>
                    <a:pt x="1592607" y="0"/>
                  </a:lnTo>
                  <a:cubicBezTo>
                    <a:pt x="1597569" y="0"/>
                    <a:pt x="1602329" y="1971"/>
                    <a:pt x="1605838" y="5480"/>
                  </a:cubicBezTo>
                  <a:cubicBezTo>
                    <a:pt x="1609347" y="8989"/>
                    <a:pt x="1611318" y="13749"/>
                    <a:pt x="1611318" y="18711"/>
                  </a:cubicBezTo>
                  <a:lnTo>
                    <a:pt x="1611318" y="656117"/>
                  </a:lnTo>
                  <a:cubicBezTo>
                    <a:pt x="1611318" y="666451"/>
                    <a:pt x="1602941" y="674828"/>
                    <a:pt x="1592607" y="674828"/>
                  </a:cubicBezTo>
                  <a:lnTo>
                    <a:pt x="18711" y="674828"/>
                  </a:lnTo>
                  <a:cubicBezTo>
                    <a:pt x="8377" y="674828"/>
                    <a:pt x="0" y="666451"/>
                    <a:pt x="0" y="656117"/>
                  </a:cubicBezTo>
                  <a:lnTo>
                    <a:pt x="0" y="18711"/>
                  </a:lnTo>
                  <a:cubicBezTo>
                    <a:pt x="0" y="8377"/>
                    <a:pt x="8377" y="0"/>
                    <a:pt x="1871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528" r="0" b="-1528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756874" y="165100"/>
            <a:ext cx="1086881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RESULTADOS DA SUBMISSÃO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9254" y="1841213"/>
            <a:ext cx="14809492" cy="210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0"/>
              </a:lnSpc>
              <a:spcBef>
                <a:spcPct val="0"/>
              </a:spcBef>
            </a:pPr>
            <a:r>
              <a:rPr lang="en-US" b="true" sz="1992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QUANDO O RESULTADO É TIME LIMIT EXCEEDED, SIGNIFICA QUE O PROGRAMA DEMOROU MAIS TEMPO DO QUE O PERMITIDO PARA SER EXECUTADO. ISSO GERALMENTE ACONTECE QUANDO O CÓDIGO ENTRA EM LOOP INFINITO OU UTILIZA UMA SOLUÇÃO</a:t>
            </a:r>
            <a:r>
              <a:rPr lang="en-US" b="true" sz="1992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 MUITO LENTA.</a:t>
            </a:r>
          </a:p>
          <a:p>
            <a:pPr algn="just">
              <a:lnSpc>
                <a:spcPts val="2790"/>
              </a:lnSpc>
              <a:spcBef>
                <a:spcPct val="0"/>
              </a:spcBef>
            </a:pPr>
          </a:p>
          <a:p>
            <a:pPr algn="just">
              <a:lnSpc>
                <a:spcPts val="2790"/>
              </a:lnSpc>
              <a:spcBef>
                <a:spcPct val="0"/>
              </a:spcBef>
            </a:pPr>
            <a:r>
              <a:rPr lang="en-US" b="true" sz="1992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NESSE CASO, É NECESSÁRIO OTIMIZAR O CÓDIGO OU CORRIGIR A LÓGICA.</a:t>
            </a:r>
          </a:p>
          <a:p>
            <a:pPr algn="just">
              <a:lnSpc>
                <a:spcPts val="279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698537" y="530873"/>
            <a:ext cx="651887" cy="43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5"/>
              </a:lnSpc>
            </a:pPr>
            <a:r>
              <a:rPr lang="en-US" b="true" sz="2567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4/4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9258300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87942" y="5413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4379" y="6724590"/>
            <a:ext cx="746850" cy="749575"/>
          </a:xfrm>
          <a:custGeom>
            <a:avLst/>
            <a:gdLst/>
            <a:ahLst/>
            <a:cxnLst/>
            <a:rect r="r" b="b" t="t" l="l"/>
            <a:pathLst>
              <a:path h="749575" w="746850">
                <a:moveTo>
                  <a:pt x="0" y="0"/>
                </a:moveTo>
                <a:lnTo>
                  <a:pt x="746850" y="0"/>
                </a:lnTo>
                <a:lnTo>
                  <a:pt x="746850" y="749576"/>
                </a:lnTo>
                <a:lnTo>
                  <a:pt x="0" y="7495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65502" y="351577"/>
            <a:ext cx="12956996" cy="121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81"/>
              </a:lnSpc>
              <a:spcBef>
                <a:spcPct val="0"/>
              </a:spcBef>
            </a:pPr>
            <a:r>
              <a:rPr lang="en-US" b="true" sz="7058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👉 AGORA É COM VOCÊ!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64379" y="3028286"/>
            <a:ext cx="15994921" cy="2458054"/>
            <a:chOff x="0" y="0"/>
            <a:chExt cx="2105045" cy="323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5045" cy="323497"/>
            </a:xfrm>
            <a:custGeom>
              <a:avLst/>
              <a:gdLst/>
              <a:ahLst/>
              <a:cxnLst/>
              <a:rect r="r" b="b" t="t" l="l"/>
              <a:pathLst>
                <a:path h="323497" w="2105045">
                  <a:moveTo>
                    <a:pt x="14521" y="0"/>
                  </a:moveTo>
                  <a:lnTo>
                    <a:pt x="2090524" y="0"/>
                  </a:lnTo>
                  <a:cubicBezTo>
                    <a:pt x="2094375" y="0"/>
                    <a:pt x="2098069" y="1530"/>
                    <a:pt x="2100792" y="4253"/>
                  </a:cubicBezTo>
                  <a:cubicBezTo>
                    <a:pt x="2103515" y="6976"/>
                    <a:pt x="2105045" y="10670"/>
                    <a:pt x="2105045" y="14521"/>
                  </a:cubicBezTo>
                  <a:lnTo>
                    <a:pt x="2105045" y="308977"/>
                  </a:lnTo>
                  <a:cubicBezTo>
                    <a:pt x="2105045" y="312828"/>
                    <a:pt x="2103515" y="316521"/>
                    <a:pt x="2100792" y="319244"/>
                  </a:cubicBezTo>
                  <a:cubicBezTo>
                    <a:pt x="2098069" y="321967"/>
                    <a:pt x="2094375" y="323497"/>
                    <a:pt x="2090524" y="323497"/>
                  </a:cubicBezTo>
                  <a:lnTo>
                    <a:pt x="14521" y="323497"/>
                  </a:lnTo>
                  <a:cubicBezTo>
                    <a:pt x="10670" y="323497"/>
                    <a:pt x="6976" y="321967"/>
                    <a:pt x="4253" y="319244"/>
                  </a:cubicBezTo>
                  <a:cubicBezTo>
                    <a:pt x="1530" y="316521"/>
                    <a:pt x="0" y="312828"/>
                    <a:pt x="0" y="308977"/>
                  </a:cubicBezTo>
                  <a:lnTo>
                    <a:pt x="0" y="14521"/>
                  </a:lnTo>
                  <a:cubicBezTo>
                    <a:pt x="0" y="10670"/>
                    <a:pt x="1530" y="6976"/>
                    <a:pt x="4253" y="4253"/>
                  </a:cubicBezTo>
                  <a:cubicBezTo>
                    <a:pt x="6976" y="1530"/>
                    <a:pt x="10670" y="0"/>
                    <a:pt x="14521" y="0"/>
                  </a:cubicBezTo>
                  <a:close/>
                </a:path>
              </a:pathLst>
            </a:custGeom>
            <a:solidFill>
              <a:srgbClr val="FF276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05045" cy="380647"/>
            </a:xfrm>
            <a:prstGeom prst="rect">
              <a:avLst/>
            </a:prstGeom>
          </p:spPr>
          <p:txBody>
            <a:bodyPr anchor="ctr" rtlCol="false" tIns="101662" lIns="101662" bIns="101662" rIns="101662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00058" y="3443364"/>
            <a:ext cx="15523563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ACESSE A PLATAFORMA, ESCOLHA UM PROBLEMA E TENTE RESOLVER SOZINHO.</a:t>
            </a: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COMECE PELO PROBLEMA 1001 – EXTREMAMENTE BÁSICO E EVOLUA AOS POUCOS.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5550" y="7042228"/>
            <a:ext cx="14736901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O APRENDIZADO ACONTECE NA PRÁTICA — QUANTO MAIS VOCÊ TENTA, MELHOR VOCÊ FICA.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0800000">
            <a:off x="16258223" y="7486590"/>
            <a:ext cx="746850" cy="749575"/>
          </a:xfrm>
          <a:custGeom>
            <a:avLst/>
            <a:gdLst/>
            <a:ahLst/>
            <a:cxnLst/>
            <a:rect r="r" b="b" t="t" l="l"/>
            <a:pathLst>
              <a:path h="749575" w="746850">
                <a:moveTo>
                  <a:pt x="0" y="0"/>
                </a:moveTo>
                <a:lnTo>
                  <a:pt x="746850" y="0"/>
                </a:lnTo>
                <a:lnTo>
                  <a:pt x="746850" y="749576"/>
                </a:lnTo>
                <a:lnTo>
                  <a:pt x="0" y="7495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DAHFdZHZHUw</dc:identifier>
  <dcterms:modified xsi:type="dcterms:W3CDTF">2011-08-01T06:04:30Z</dcterms:modified>
  <cp:revision>1</cp:revision>
  <dc:title>Beecrowd - 1</dc:title>
</cp:coreProperties>
</file>